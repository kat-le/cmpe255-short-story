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Average"/>
      <p:regular r:id="rId29"/>
    </p:embeddedFont>
    <p:embeddedFont>
      <p:font typeface="Oswal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verag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swald-bold.fntdata"/><Relationship Id="rId3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90394751d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90394751d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90394751d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90394751d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0394751d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90394751d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90394751d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90394751d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90394751d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90394751d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90394751d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90394751d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90394751d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90394751d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90394751d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90394751d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90394751d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90394751d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90394751d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90394751d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90394751d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90394751d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90394751d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90394751d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90394751d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90394751d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90394751d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90394751d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90394751d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90394751d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90394751d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90394751d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90394751d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90394751d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90394751d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90394751d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90394751d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90394751d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90394751d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90394751d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90394751d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90394751d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90394751d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90394751d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a Distance for the Clustering of Patients with Amyotrophic Lateral Sclerosis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Katherine 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 research is limited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Small samples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Longitudinal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Current patient clustering lacks clinical meaning  for preventative/personalized care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study improves clustering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Pairing clustering algorithms with </a:t>
            </a:r>
            <a:r>
              <a:rPr lang="en"/>
              <a:t>multiple</a:t>
            </a:r>
            <a:r>
              <a:rPr lang="en"/>
              <a:t> distance measures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Combining several descriptive variables from patient progression data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Evaluation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Method outperformed existing  approaches in </a:t>
            </a:r>
            <a:r>
              <a:rPr lang="en"/>
              <a:t>survival</a:t>
            </a:r>
            <a:r>
              <a:rPr lang="en"/>
              <a:t> analysis when evaluated on a dataset sof 353 ASL patients.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ALS?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501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Fatal neurodegenerative disease of the central nervous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Affect motor neurons in the brain and spinal cord which controls voluntary muscle movements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Hard to diagnose in its early stages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Typical survival of 3-5 years after symptom onset </a:t>
            </a:r>
            <a:endParaRPr/>
          </a:p>
        </p:txBody>
      </p:sp>
      <p:pic>
        <p:nvPicPr>
          <p:cNvPr id="73" name="Google Shape;73;p15" title="Screenshot 2025-11-23 at 10.11.42 AM.png"/>
          <p:cNvPicPr preferRelativeResize="0"/>
          <p:nvPr/>
        </p:nvPicPr>
        <p:blipFill rotWithShape="1">
          <a:blip r:embed="rId3">
            <a:alphaModFix/>
          </a:blip>
          <a:srcRect b="1224" l="0" r="2152" t="0"/>
          <a:stretch/>
        </p:blipFill>
        <p:spPr>
          <a:xfrm>
            <a:off x="5832225" y="481575"/>
            <a:ext cx="2508025" cy="412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</a:t>
            </a:r>
            <a:r>
              <a:rPr lang="en"/>
              <a:t>Constraints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sparsity and limited variety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Costly and </a:t>
            </a:r>
            <a:r>
              <a:rPr lang="en"/>
              <a:t>invasive</a:t>
            </a:r>
            <a:r>
              <a:rPr lang="en"/>
              <a:t> data collection procedures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Strict regulations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is fragmented and incomplete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Limits the generalization ability of machine learning models → difficult to </a:t>
            </a:r>
            <a:r>
              <a:rPr lang="en"/>
              <a:t>identity</a:t>
            </a:r>
            <a:r>
              <a:rPr lang="en"/>
              <a:t> </a:t>
            </a:r>
            <a:r>
              <a:rPr lang="en"/>
              <a:t>distinct</a:t>
            </a:r>
            <a:r>
              <a:rPr lang="en"/>
              <a:t> </a:t>
            </a:r>
            <a:r>
              <a:rPr lang="en"/>
              <a:t>patient clusters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7911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ALSFRS-R (ALS Functional Rating Scale-Revised) 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64800" y="3504600"/>
            <a:ext cx="8414400" cy="11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ALSFRS-R is the standard reference for </a:t>
            </a:r>
            <a:r>
              <a:rPr lang="en"/>
              <a:t>measuring</a:t>
            </a:r>
            <a:r>
              <a:rPr lang="en"/>
              <a:t> ALS progression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Total score from 0 (total physical function loss) to 48 (no functional impairment)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longitudinal </a:t>
            </a:r>
            <a:r>
              <a:rPr lang="en"/>
              <a:t>clinical</a:t>
            </a:r>
            <a:r>
              <a:rPr lang="en"/>
              <a:t> data that is used to identify clusters </a:t>
            </a:r>
            <a:endParaRPr/>
          </a:p>
        </p:txBody>
      </p:sp>
      <p:pic>
        <p:nvPicPr>
          <p:cNvPr id="86" name="Google Shape;86;p17" title="Screenshot 2025-11-23 at 10.25.35 AM.png"/>
          <p:cNvPicPr preferRelativeResize="0"/>
          <p:nvPr/>
        </p:nvPicPr>
        <p:blipFill rotWithShape="1">
          <a:blip r:embed="rId3">
            <a:alphaModFix/>
          </a:blip>
          <a:srcRect b="0" l="1590" r="2568" t="0"/>
          <a:stretch/>
        </p:blipFill>
        <p:spPr>
          <a:xfrm>
            <a:off x="2131823" y="1078574"/>
            <a:ext cx="4880365" cy="23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00"/>
              <a:t>Current Research on ALS patient clustering</a:t>
            </a:r>
            <a:endParaRPr sz="4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based on progression thresholds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80700" y="1152475"/>
            <a:ext cx="8982600" cy="21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Observe ALSFRS-R score at a specific point in time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thresholds to determine clusters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Limitations</a:t>
            </a:r>
            <a:r>
              <a:rPr lang="en"/>
              <a:t> with this approach: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Small changes near the threshold can move a data point into a different </a:t>
            </a:r>
            <a:r>
              <a:rPr lang="en"/>
              <a:t>group</a:t>
            </a:r>
            <a:r>
              <a:rPr lang="en"/>
              <a:t> when the difference is clinically </a:t>
            </a:r>
            <a:r>
              <a:rPr lang="en"/>
              <a:t>negligible</a:t>
            </a:r>
            <a:r>
              <a:rPr lang="en"/>
              <a:t> in reality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reduces a sequence into a single value making it difficult to identify diverse clusters </a:t>
            </a:r>
            <a:endParaRPr/>
          </a:p>
        </p:txBody>
      </p:sp>
      <p:pic>
        <p:nvPicPr>
          <p:cNvPr id="98" name="Google Shape;98;p19" title="Screenshot 2025-11-23 at 10.56.1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700" y="2902550"/>
            <a:ext cx="5412099" cy="212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80700" y="2902550"/>
            <a:ext cx="34410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</a:pPr>
            <a:r>
              <a:rPr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 single criterion cannot fully characterize ALS </a:t>
            </a:r>
            <a:endParaRPr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Available Datasets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PRO-ACT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Dataset of 10,000 ALS patients with a variety of clinical and biological parameters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Limitations of PRO-ACT: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Patients are from different clinical trials leading to inconsistent follow-up frequencies and unit conventions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only starts from the diagnosis and onwards, no data about first few follow-up visits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Cannot contact the clinicians who worked with the patients so there is no contextual </a:t>
            </a:r>
            <a:r>
              <a:rPr lang="en"/>
              <a:t>understanding</a:t>
            </a:r>
            <a:r>
              <a:rPr lang="en"/>
              <a:t> of the data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Dataset used in study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From a hospital where physicians can be contacted </a:t>
            </a:r>
            <a:endParaRPr/>
          </a:p>
        </p:txBody>
      </p:sp>
      <p:pic>
        <p:nvPicPr>
          <p:cNvPr id="106" name="Google Shape;106;p20" title="Screenshot 2025-11-23 at 10.49.4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5875" y="3408425"/>
            <a:ext cx="3156925" cy="116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00"/>
              <a:t>Clustering Approach</a:t>
            </a:r>
            <a:endParaRPr sz="4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Framework</a:t>
            </a:r>
            <a:endParaRPr/>
          </a:p>
        </p:txBody>
      </p:sp>
      <p:pic>
        <p:nvPicPr>
          <p:cNvPr id="117" name="Google Shape;117;p22" title="Screenshot 2025-11-23 at 10.59.31 AM.png"/>
          <p:cNvPicPr preferRelativeResize="0"/>
          <p:nvPr/>
        </p:nvPicPr>
        <p:blipFill rotWithShape="1">
          <a:blip r:embed="rId3">
            <a:alphaModFix/>
          </a:blip>
          <a:srcRect b="5405" l="2582" r="7730" t="10398"/>
          <a:stretch/>
        </p:blipFill>
        <p:spPr>
          <a:xfrm>
            <a:off x="1272250" y="1349238"/>
            <a:ext cx="6599500" cy="244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Extracting Descriptive Variables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914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 types of key features from ALSRFS-R score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Sequence based: calculated </a:t>
            </a:r>
            <a:r>
              <a:rPr lang="en"/>
              <a:t>directly</a:t>
            </a:r>
            <a:r>
              <a:rPr lang="en"/>
              <a:t> from raw score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Follow up duration - How long the patient was tracked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Score at the first visit - The patient’s ALSFRS-R score when the patient’s follow-up started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Overall slope - The average rate of decline in their score 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Stiffest slope - Largest drop that happened between any 2 consecutive visits</a:t>
            </a:r>
            <a:endParaRPr sz="1200"/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24" name="Google Shape;124;p23" title="Screenshot 2025-11-23 at 11.15.09 AM.png"/>
          <p:cNvPicPr preferRelativeResize="0"/>
          <p:nvPr/>
        </p:nvPicPr>
        <p:blipFill rotWithShape="1">
          <a:blip r:embed="rId3">
            <a:alphaModFix/>
          </a:blip>
          <a:srcRect b="0" l="0" r="3725" t="6611"/>
          <a:stretch/>
        </p:blipFill>
        <p:spPr>
          <a:xfrm>
            <a:off x="1801875" y="2571750"/>
            <a:ext cx="5540250" cy="233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Extracting Descriptive Variables (continued)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-382100" y="1162825"/>
            <a:ext cx="408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1" marL="914400" rtl="0" algn="l">
              <a:spcBef>
                <a:spcPts val="9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Sigmoid based: Fit a smooth curve (sigmoid function) through each patient’s data to estimate missing points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This accounts for patients not visiting on the same schedule 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ALSFRS-R score after one year - What model predicts the score will be 365 days after starting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Percentage decline after 6 months - How much the score dropped after 6 months 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D50 value - The time in days when the predicted score reaches 24 (midpoint)</a:t>
            </a:r>
            <a:endParaRPr/>
          </a:p>
        </p:txBody>
      </p:sp>
      <p:pic>
        <p:nvPicPr>
          <p:cNvPr id="131" name="Google Shape;131;p24" title="Screenshot 2025-11-23 at 11.17.0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5525" y="1601850"/>
            <a:ext cx="4806025" cy="287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Two Patients 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pair of two patients, the absolute difference is calculated between their feature values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Describes how different two patients’ disease progressions are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DURATION_DIFF - Difference in how long they were followed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FIRST_SCORE_DIFF - Difference in their starting scores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SLOPE_DIFF - Difference in how quickly they decline overall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HIGHEST_CONSECUTIVE_SLOPE_DIFF - Difference in their steepest single drop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ALS_SCORE_M12_DIFF - Difference in their predicted scores after 1 year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PC_CHANGE_M6_DIFF - Difference in their % decline after 6 months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D50_DIFF - Difference in when they reach score 24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Distances 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ways to measure how far apart two patients are from the set of 7 descriptive features for each patient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distance measures will be used for clustering 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Each patient is represented as a vector with 7 elements for the 7 features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Off-the-shelf Methods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Minkowski Distance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</a:t>
            </a:r>
            <a:r>
              <a:rPr lang="en"/>
              <a:t>eneral formula for measuring distance between two vectors</a:t>
            </a:r>
            <a:endParaRPr/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9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Cosine Distance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M</a:t>
            </a:r>
            <a:r>
              <a:rPr lang="en"/>
              <a:t>easures how similar the directions of two vectors are</a:t>
            </a:r>
            <a:endParaRPr sz="1600"/>
          </a:p>
        </p:txBody>
      </p:sp>
      <p:pic>
        <p:nvPicPr>
          <p:cNvPr id="150" name="Google Shape;150;p27" title="Screenshot 2025-11-23 at 11.41.3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4225" y="1733475"/>
            <a:ext cx="4475550" cy="96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7" title="Screenshot 2025-11-23 at 11.42.05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1725" y="3758750"/>
            <a:ext cx="440055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Weakly Supervised Machine Learning Distance 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223125" y="1017725"/>
            <a:ext cx="3784200" cy="39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32725" lvl="0" marL="457200" rtl="0" algn="l">
              <a:spcBef>
                <a:spcPts val="900"/>
              </a:spcBef>
              <a:spcAft>
                <a:spcPts val="0"/>
              </a:spcAft>
              <a:buSzPct val="100000"/>
              <a:buChar char="●"/>
            </a:pPr>
            <a:r>
              <a:rPr lang="en" sz="2623">
                <a:latin typeface="Times New Roman"/>
                <a:ea typeface="Times New Roman"/>
                <a:cs typeface="Times New Roman"/>
                <a:sym typeface="Times New Roman"/>
              </a:rPr>
              <a:t>Learns how to weigh different features so that we can see which types of differences matter more when comparing patients </a:t>
            </a:r>
            <a:endParaRPr sz="262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623"/>
              <a:t>Label pairs of patients - create approximate labels based on physician rules </a:t>
            </a:r>
            <a:endParaRPr sz="2623"/>
          </a:p>
          <a:p>
            <a:pPr indent="-30638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960"/>
              <a:t>Make 7 labeling functions one for each feature and each function looks at the value of a feature and assigns different labels:</a:t>
            </a:r>
            <a:endParaRPr sz="1960"/>
          </a:p>
          <a:p>
            <a:pPr indent="-30638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960"/>
              <a:t>T (Together) if the difference is small</a:t>
            </a:r>
            <a:endParaRPr sz="1960"/>
          </a:p>
          <a:p>
            <a:pPr indent="-30638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960"/>
              <a:t>S (Separated) if the difference is large</a:t>
            </a:r>
            <a:endParaRPr sz="1960"/>
          </a:p>
          <a:p>
            <a:pPr indent="-30638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960"/>
              <a:t>U (Undetermined) if the different is in between</a:t>
            </a:r>
            <a:endParaRPr sz="1960"/>
          </a:p>
        </p:txBody>
      </p:sp>
      <p:pic>
        <p:nvPicPr>
          <p:cNvPr id="158" name="Google Shape;158;p28" title="Screenshot 2025-11-23 at 11.48.54 AM.png"/>
          <p:cNvPicPr preferRelativeResize="0"/>
          <p:nvPr/>
        </p:nvPicPr>
        <p:blipFill rotWithShape="1">
          <a:blip r:embed="rId3">
            <a:alphaModFix/>
          </a:blip>
          <a:srcRect b="0" l="0" r="2610" t="0"/>
          <a:stretch/>
        </p:blipFill>
        <p:spPr>
          <a:xfrm>
            <a:off x="4347975" y="1262225"/>
            <a:ext cx="4484325" cy="317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Weakly Supervised Machine Learning Distance (continued)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Combine labels using voting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Probabilistic voting system - a model that learns how reliable each labeling function is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Looks at how each function agrees or disagrees with the others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Estimates</a:t>
            </a:r>
            <a:r>
              <a:rPr lang="en"/>
              <a:t> each </a:t>
            </a:r>
            <a:r>
              <a:rPr lang="en"/>
              <a:t>function’s accuracy and correlation 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Produces a final label for each pair T or S with an associated probability </a:t>
            </a:r>
            <a:endParaRPr/>
          </a:p>
        </p:txBody>
      </p:sp>
      <p:pic>
        <p:nvPicPr>
          <p:cNvPr id="165" name="Google Shape;165;p29" title="Screenshot 2025-11-23 at 11.55.17 AM.png"/>
          <p:cNvPicPr preferRelativeResize="0"/>
          <p:nvPr/>
        </p:nvPicPr>
        <p:blipFill rotWithShape="1">
          <a:blip r:embed="rId3">
            <a:alphaModFix/>
          </a:blip>
          <a:srcRect b="0" l="0" r="0" t="7655"/>
          <a:stretch/>
        </p:blipFill>
        <p:spPr>
          <a:xfrm>
            <a:off x="2012525" y="2725575"/>
            <a:ext cx="5118949" cy="226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Weakly Supervised Machine Learning Distance (continued)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Train a classifier to learn feature weights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After probabilistic labels, train a SVM to learn which features best predict whether 2 patients should be together or separated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produces a weight wi for each of the 7 variables  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Pairs with label U are ignored during training </a:t>
            </a:r>
            <a:r>
              <a:rPr lang="en" sz="1600"/>
              <a:t> 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Experiments</a:t>
            </a:r>
            <a:endParaRPr sz="4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Setup</a:t>
            </a:r>
            <a:endParaRPr/>
          </a:p>
        </p:txBody>
      </p:sp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Evaluate the proposed distance measures and compare with existing clustering methods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Dataset: 888 ALS patients from the University Hospital of Tours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After data cleaning, 353 patients retained (62,481 patient pairs)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Tools used: KNIME, Python, Snorkel for weak supervision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 Validation and Experimental Protocol</a:t>
            </a:r>
            <a:endParaRPr/>
          </a:p>
        </p:txBody>
      </p:sp>
      <p:sp>
        <p:nvSpPr>
          <p:cNvPr id="188" name="Google Shape;18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Tested weakly supervised distance (WSD) and cosine distance for standard mathematical properties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Confirmed that WSD is a valid and stable distance measure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Experimental Protocol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Compared proposed method with current </a:t>
            </a:r>
            <a:r>
              <a:rPr lang="en"/>
              <a:t>approaches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Created </a:t>
            </a:r>
            <a:r>
              <a:rPr lang="en"/>
              <a:t>multiple</a:t>
            </a:r>
            <a:r>
              <a:rPr lang="en"/>
              <a:t> distance + clustering </a:t>
            </a:r>
            <a:r>
              <a:rPr lang="en"/>
              <a:t>combinations</a:t>
            </a:r>
            <a:r>
              <a:rPr lang="en"/>
              <a:t> (“workflows”)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Clustering</a:t>
            </a:r>
            <a:r>
              <a:rPr lang="en"/>
              <a:t> algorithms tested: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K-means, K-medoids, Agglomerative Hierarchical Clustering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UMAP for dimensionality reduction to improve cluster </a:t>
            </a:r>
            <a:r>
              <a:rPr lang="en"/>
              <a:t>detecting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Tested 2-6 clusters, </a:t>
            </a:r>
            <a:r>
              <a:rPr lang="en"/>
              <a:t>yielding</a:t>
            </a:r>
            <a:r>
              <a:rPr lang="en"/>
              <a:t> 100 workflows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 Quality Evaluation</a:t>
            </a:r>
            <a:endParaRPr/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Survival</a:t>
            </a:r>
            <a:r>
              <a:rPr lang="en"/>
              <a:t> Analysis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Compared </a:t>
            </a:r>
            <a:r>
              <a:rPr lang="en"/>
              <a:t>survival</a:t>
            </a:r>
            <a:r>
              <a:rPr lang="en"/>
              <a:t> curves between clusters using the log-rank 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Silhouette</a:t>
            </a:r>
            <a:r>
              <a:rPr lang="en"/>
              <a:t> score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Measures compactness and separation of clusters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Patient Distribution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Assessed balance of patients per cluster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Avoids outlier clusters with too few patients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00" name="Google Shape;20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Introduced a method combining simple distance metrics and a weakly supervised SVM-based distance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achieved similar or better </a:t>
            </a:r>
            <a:r>
              <a:rPr lang="en"/>
              <a:t>silhouette</a:t>
            </a:r>
            <a:r>
              <a:rPr lang="en"/>
              <a:t> scores compared to existing techniques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Achieved high log-rank statistics (clearler differences in patient </a:t>
            </a:r>
            <a:r>
              <a:rPr lang="en"/>
              <a:t>survival</a:t>
            </a:r>
            <a:r>
              <a:rPr lang="en"/>
              <a:t>) for clusters of size 2,3, and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Physicians validated the </a:t>
            </a:r>
            <a:r>
              <a:rPr lang="en"/>
              <a:t>findings confirming that they were clinically</a:t>
            </a:r>
            <a:r>
              <a:rPr lang="en"/>
              <a:t> meaningful, well-sized, and aligned with real disease progression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 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time-based progression to 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Enhance evaluation with clinical and biological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Verify data representativeness and quality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Extend method to other progressive diseases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Validate using larger datasets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